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5459" y="959313"/>
            <a:ext cx="5760741" cy="257189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5459" y="3531205"/>
            <a:ext cx="5760741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5459" y="329308"/>
            <a:ext cx="3392144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6200" y="131730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8131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7172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1756130"/>
            <a:ext cx="5764142" cy="2050066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5460" y="3806196"/>
            <a:ext cx="576414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7410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959314"/>
            <a:ext cx="6564015" cy="10441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5459" y="2172548"/>
            <a:ext cx="3125871" cy="3278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3822" y="2172548"/>
            <a:ext cx="3125652" cy="3278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5219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652" y="959903"/>
            <a:ext cx="6571344" cy="1044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131" y="2169094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8131" y="2973815"/>
            <a:ext cx="3125766" cy="249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3822" y="2172548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3822" y="2971035"/>
            <a:ext cx="3125652" cy="24849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3170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2768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10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041" y="959313"/>
            <a:ext cx="2425950" cy="224205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9877" y="960890"/>
            <a:ext cx="3828178" cy="449691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041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6792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077" y="1129512"/>
            <a:ext cx="3386166" cy="191848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1420" y="3057166"/>
            <a:ext cx="3390817" cy="2092568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4592" y="5469857"/>
            <a:ext cx="3393977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459" y="318641"/>
            <a:ext cx="2601032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726491" y="131730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70363" b="36435"/>
          <a:stretch/>
        </p:blipFill>
        <p:spPr>
          <a:xfrm>
            <a:off x="1125460" y="643464"/>
            <a:ext cx="339242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501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3971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447" y="796298"/>
            <a:ext cx="1103027" cy="466256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1910" y="796298"/>
            <a:ext cx="5301095" cy="46625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59215" b="36435"/>
          <a:stretch/>
        </p:blipFill>
        <p:spPr>
          <a:xfrm rot="5400000">
            <a:off x="5605390" y="3050294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886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854"/>
            <a:ext cx="9144000" cy="7429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/>
          <p:cNvCxnSpPr/>
          <p:nvPr/>
        </p:nvCxnSpPr>
        <p:spPr>
          <a:xfrm>
            <a:off x="0" y="6121005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8684" y="956172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8684" y="2167385"/>
            <a:ext cx="6571343" cy="328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1309" y="330371"/>
            <a:ext cx="2368292" cy="30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8684" y="329308"/>
            <a:ext cx="3388498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3728" y="131730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76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0BE6-7FEF-40D3-AD82-41EB594AE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892" y="1470522"/>
            <a:ext cx="6834216" cy="3082428"/>
          </a:xfrm>
        </p:spPr>
        <p:txBody>
          <a:bodyPr>
            <a:normAutofit/>
          </a:bodyPr>
          <a:lstStyle/>
          <a:p>
            <a:r>
              <a:rPr lang="en-US" sz="4400" dirty="0"/>
              <a:t>Optimizing Sales Performance Through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B5FB4-A7AE-4221-96BD-A627CF3F5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8684" y="4872485"/>
            <a:ext cx="6571343" cy="328863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Priyanshu Kamal</a:t>
            </a:r>
          </a:p>
          <a:p>
            <a:pPr marL="0" indent="0">
              <a:buNone/>
            </a:pPr>
            <a:r>
              <a:rPr lang="en-US" dirty="0"/>
              <a:t>callmepriyanshu4@gmail.com</a:t>
            </a:r>
          </a:p>
        </p:txBody>
      </p:sp>
    </p:spTree>
    <p:extLst>
      <p:ext uri="{BB962C8B-B14F-4D97-AF65-F5344CB8AC3E}">
        <p14:creationId xmlns:p14="http://schemas.microsoft.com/office/powerpoint/2010/main" val="2710716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Sales performance varies widely by manager, market, and channel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2023 sales data across 14 countries shows uneven target achievement</a:t>
            </a:r>
          </a:p>
          <a:p>
            <a:pPr lvl="1"/>
            <a:r>
              <a:t>A small set of managers consistently outperform assigned targets</a:t>
            </a:r>
          </a:p>
          <a:p>
            <a:pPr lvl="1"/>
            <a:r>
              <a:t>Europe and Website channel drive disproportionate value</a:t>
            </a:r>
          </a:p>
          <a:p>
            <a:pPr lvl="1"/>
            <a:r>
              <a:t>Clear levers exist to improve revenue, planning, and target allocation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 global e-commerce model with complex sales ownership requires data-led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684" y="2599353"/>
            <a:ext cx="6571343" cy="3288635"/>
          </a:xfrm>
        </p:spPr>
        <p:txBody>
          <a:bodyPr/>
          <a:lstStyle/>
          <a:p>
            <a:r>
              <a:rPr dirty="0"/>
              <a:t>Mobile accessories company operating across 14 countries</a:t>
            </a:r>
          </a:p>
          <a:p>
            <a:pPr lvl="1"/>
            <a:r>
              <a:rPr dirty="0"/>
              <a:t>Orders placed via App, Website, WhatsApp, and support channels</a:t>
            </a:r>
          </a:p>
          <a:p>
            <a:pPr lvl="1"/>
            <a:r>
              <a:rPr dirty="0"/>
              <a:t>Sales ownership distributed across teams, managers, and POCs</a:t>
            </a:r>
          </a:p>
          <a:p>
            <a:pPr lvl="1"/>
            <a:r>
              <a:rPr dirty="0"/>
              <a:t>POCs serve multiple geographies, increasing operational complexity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Cleaned and integrated data enables reliable performance measurement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683" y="2700785"/>
            <a:ext cx="6571343" cy="3288635"/>
          </a:xfrm>
        </p:spPr>
        <p:txBody>
          <a:bodyPr/>
          <a:lstStyle/>
          <a:p>
            <a:r>
              <a:rPr dirty="0"/>
              <a:t>Resolved missing values and corrected inconsistent data formats</a:t>
            </a:r>
          </a:p>
          <a:p>
            <a:pPr lvl="1"/>
            <a:r>
              <a:rPr dirty="0"/>
              <a:t>Standardized Sales Manager identity using Power Query</a:t>
            </a:r>
          </a:p>
          <a:p>
            <a:pPr lvl="1"/>
            <a:r>
              <a:rPr dirty="0"/>
              <a:t>Built a three-table relational model (Orders, Customers, Targets)</a:t>
            </a:r>
          </a:p>
          <a:p>
            <a:pPr lvl="1"/>
            <a:r>
              <a:rPr dirty="0"/>
              <a:t>Ensured accurate attribution of sales and targets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High targets alone do not guarantee underperformance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684" y="2613193"/>
            <a:ext cx="6571343" cy="3288635"/>
          </a:xfrm>
        </p:spPr>
        <p:txBody>
          <a:bodyPr/>
          <a:lstStyle/>
          <a:p>
            <a:r>
              <a:rPr dirty="0"/>
              <a:t>Benjamin Chen and Noah Meier received the highest targets</a:t>
            </a:r>
          </a:p>
          <a:p>
            <a:pPr lvl="1"/>
            <a:r>
              <a:rPr dirty="0"/>
              <a:t>Noah Meier exceeded target by ~8% (108% achievement)</a:t>
            </a:r>
          </a:p>
          <a:p>
            <a:pPr lvl="1"/>
            <a:r>
              <a:rPr dirty="0"/>
              <a:t>Benjamin Chen failed to meet target despite similar scale</a:t>
            </a:r>
          </a:p>
          <a:p>
            <a:pPr lvl="1"/>
            <a:r>
              <a:rPr dirty="0"/>
              <a:t>Manager effectiveness drives outcomes more than target size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Top-performing managers dominate both sales value and order 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684" y="2719835"/>
            <a:ext cx="6571343" cy="3288635"/>
          </a:xfrm>
        </p:spPr>
        <p:txBody>
          <a:bodyPr/>
          <a:lstStyle/>
          <a:p>
            <a:r>
              <a:rPr dirty="0"/>
              <a:t>Few managers contribute a disproportionate share of revenue</a:t>
            </a:r>
          </a:p>
          <a:p>
            <a:pPr lvl="1"/>
            <a:r>
              <a:rPr dirty="0"/>
              <a:t>Leaders perform well across sales value, orders, and customers</a:t>
            </a:r>
          </a:p>
          <a:p>
            <a:pPr lvl="1"/>
            <a:r>
              <a:rPr dirty="0"/>
              <a:t>Performance leadership varies by country</a:t>
            </a:r>
          </a:p>
          <a:p>
            <a:pPr lvl="1"/>
            <a:r>
              <a:rPr dirty="0"/>
              <a:t>Best practices can be replicated across regions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Order demand shows strong seasonality with a clear year-end peak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684" y="2843660"/>
            <a:ext cx="6571343" cy="3288635"/>
          </a:xfrm>
        </p:spPr>
        <p:txBody>
          <a:bodyPr/>
          <a:lstStyle/>
          <a:p>
            <a:r>
              <a:rPr dirty="0"/>
              <a:t>November records the highest order demand</a:t>
            </a:r>
          </a:p>
          <a:p>
            <a:pPr lvl="1"/>
            <a:r>
              <a:rPr dirty="0"/>
              <a:t>September represents the lowest activity period</a:t>
            </a:r>
          </a:p>
          <a:p>
            <a:pPr lvl="1"/>
            <a:r>
              <a:rPr dirty="0"/>
              <a:t>Clear seasonal demand pattern observed</a:t>
            </a:r>
          </a:p>
          <a:p>
            <a:pPr lvl="1"/>
            <a:r>
              <a:rPr dirty="0"/>
              <a:t>Opportunity for inventory and marketing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Europe is the company’s most valuable region by volume and ticket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684" y="2900810"/>
            <a:ext cx="6571343" cy="3288635"/>
          </a:xfrm>
        </p:spPr>
        <p:txBody>
          <a:bodyPr/>
          <a:lstStyle/>
          <a:p>
            <a:r>
              <a:rPr dirty="0"/>
              <a:t>Europe leads in total number of orders</a:t>
            </a:r>
          </a:p>
          <a:p>
            <a:pPr lvl="1"/>
            <a:r>
              <a:rPr dirty="0"/>
              <a:t>Europe also has the highest average order value</a:t>
            </a:r>
          </a:p>
          <a:p>
            <a:pPr lvl="1"/>
            <a:r>
              <a:rPr dirty="0"/>
              <a:t>Other regions show volume without equivalent value</a:t>
            </a:r>
          </a:p>
          <a:p>
            <a:pPr lvl="1"/>
            <a:r>
              <a:rPr dirty="0"/>
              <a:t>Europe should be prioritized for growth initiatives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Website is the dominant ordering channel across all geographies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684" y="2691260"/>
            <a:ext cx="6571343" cy="3288635"/>
          </a:xfrm>
        </p:spPr>
        <p:txBody>
          <a:bodyPr/>
          <a:lstStyle/>
          <a:p>
            <a:r>
              <a:rPr dirty="0"/>
              <a:t>Website contributes the largest share of orders in most countries</a:t>
            </a:r>
          </a:p>
          <a:p>
            <a:pPr lvl="1"/>
            <a:r>
              <a:rPr dirty="0"/>
              <a:t>App and WhatsApp remain secondary but meaningful channels</a:t>
            </a:r>
          </a:p>
          <a:p>
            <a:pPr lvl="1"/>
            <a:r>
              <a:rPr dirty="0"/>
              <a:t>Customer behavior is consistent across regions</a:t>
            </a:r>
          </a:p>
          <a:p>
            <a:pPr lvl="1"/>
            <a:r>
              <a:rPr dirty="0"/>
              <a:t>Website optimization offers highest ROI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Overall sales performance is close to target but hides internal 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684" y="2938910"/>
            <a:ext cx="6571343" cy="3288635"/>
          </a:xfrm>
        </p:spPr>
        <p:txBody>
          <a:bodyPr/>
          <a:lstStyle/>
          <a:p>
            <a:r>
              <a:rPr dirty="0"/>
              <a:t>Aggregate actual sales track closely to total targets</a:t>
            </a:r>
          </a:p>
          <a:p>
            <a:pPr lvl="1"/>
            <a:r>
              <a:rPr dirty="0"/>
              <a:t>Manager-level variance remains significant</a:t>
            </a:r>
          </a:p>
          <a:p>
            <a:pPr lvl="1"/>
            <a:r>
              <a:rPr dirty="0"/>
              <a:t>High performers offset underperformance elsewhere</a:t>
            </a:r>
          </a:p>
          <a:p>
            <a:pPr lvl="1"/>
            <a:r>
              <a:rPr dirty="0"/>
              <a:t>Aggregate KPIs mask execution gaps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Reallocating targets and resources can unlock immediate gains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683" y="2948435"/>
            <a:ext cx="6571343" cy="3288635"/>
          </a:xfrm>
        </p:spPr>
        <p:txBody>
          <a:bodyPr/>
          <a:lstStyle/>
          <a:p>
            <a:r>
              <a:rPr dirty="0"/>
              <a:t>Rebalance targets using historical performance data</a:t>
            </a:r>
          </a:p>
          <a:p>
            <a:pPr lvl="1"/>
            <a:r>
              <a:rPr dirty="0"/>
              <a:t>Replicate strategies of top-performing managers</a:t>
            </a:r>
          </a:p>
          <a:p>
            <a:pPr lvl="1"/>
            <a:r>
              <a:rPr dirty="0"/>
              <a:t>Plan promotions around seasonal demand spikes</a:t>
            </a:r>
          </a:p>
          <a:p>
            <a:pPr lvl="1"/>
            <a:r>
              <a:rPr dirty="0"/>
              <a:t>Prioritize website-led growth initiatives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Advanced analytics can further strengthen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4884" y="3225677"/>
            <a:ext cx="6571343" cy="3288635"/>
          </a:xfrm>
        </p:spPr>
        <p:txBody>
          <a:bodyPr/>
          <a:lstStyle/>
          <a:p>
            <a:r>
              <a:rPr dirty="0"/>
              <a:t>Customer lifetime value analysis</a:t>
            </a:r>
          </a:p>
          <a:p>
            <a:pPr lvl="1"/>
            <a:r>
              <a:rPr dirty="0"/>
              <a:t>Demand forecasting models</a:t>
            </a:r>
          </a:p>
          <a:p>
            <a:pPr lvl="1"/>
            <a:r>
              <a:rPr dirty="0"/>
              <a:t>Channel-level conversion optimization</a:t>
            </a:r>
          </a:p>
          <a:p>
            <a:pPr lvl="1"/>
            <a:r>
              <a:rPr dirty="0"/>
              <a:t>Manager performance benchmarking framework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Data-driven execution can sustainably increase revenue and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684" y="3024635"/>
            <a:ext cx="6571343" cy="3288635"/>
          </a:xfrm>
        </p:spPr>
        <p:txBody>
          <a:bodyPr/>
          <a:lstStyle/>
          <a:p>
            <a:r>
              <a:rPr dirty="0"/>
              <a:t>Company already has strong supply chain infrastructure</a:t>
            </a:r>
          </a:p>
          <a:p>
            <a:pPr lvl="1"/>
            <a:r>
              <a:rPr dirty="0"/>
              <a:t>Performance gaps are execution-driven, not structural</a:t>
            </a:r>
          </a:p>
          <a:p>
            <a:pPr lvl="1"/>
            <a:r>
              <a:rPr dirty="0"/>
              <a:t>Analytics-led decisions can deliver measurable revenue uplift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16445-CF20-4627-8DF5-EECA9305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434" y="2379765"/>
            <a:ext cx="6571343" cy="1049235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28708-EAA8-40A7-8D87-F9408D662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111" y="5548760"/>
            <a:ext cx="6338916" cy="8806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*Please consider the powerBI file for the graphs</a:t>
            </a:r>
          </a:p>
        </p:txBody>
      </p:sp>
    </p:spTree>
    <p:extLst>
      <p:ext uri="{BB962C8B-B14F-4D97-AF65-F5344CB8AC3E}">
        <p14:creationId xmlns:p14="http://schemas.microsoft.com/office/powerpoint/2010/main" val="246577095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04B663"/>
      </a:accent4>
      <a:accent5>
        <a:srgbClr val="DF8822"/>
      </a:accent5>
      <a:accent6>
        <a:srgbClr val="BC410A"/>
      </a:accent6>
      <a:hlink>
        <a:srgbClr val="5977C4"/>
      </a:hlink>
      <a:folHlink>
        <a:srgbClr val="0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25</TotalTime>
  <Words>472</Words>
  <Application>Microsoft Office PowerPoint</Application>
  <PresentationFormat>On-screen Show (4:3)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Century Gothic</vt:lpstr>
      <vt:lpstr>Gallery</vt:lpstr>
      <vt:lpstr>Optimizing Sales Performance Through Data Analysis</vt:lpstr>
      <vt:lpstr>Sales performance varies widely by manager, market, and channel</vt:lpstr>
      <vt:lpstr>A global e-commerce model with complex sales ownership requires data-led decisions</vt:lpstr>
      <vt:lpstr>Cleaned and integrated data enables reliable performance measurement</vt:lpstr>
      <vt:lpstr>High targets alone do not guarantee underperformance</vt:lpstr>
      <vt:lpstr>Top-performing managers dominate both sales value and order volume</vt:lpstr>
      <vt:lpstr>Order demand shows strong seasonality with a clear year-end peak</vt:lpstr>
      <vt:lpstr>Europe is the company’s most valuable region by volume and ticket size</vt:lpstr>
      <vt:lpstr>Website is the dominant ordering channel across all geographies</vt:lpstr>
      <vt:lpstr>Overall sales performance is close to target but hides internal variance</vt:lpstr>
      <vt:lpstr>Reallocating targets and resources can unlock immediate gains</vt:lpstr>
      <vt:lpstr>Advanced analytics can further strengthen decision-making</vt:lpstr>
      <vt:lpstr>Data-driven execution can sustainably increase revenue and efficiency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Sales Performance Through Data Analysis</dc:title>
  <dc:subject/>
  <dc:creator/>
  <cp:keywords/>
  <dc:description>generated using python-pptx</dc:description>
  <cp:lastModifiedBy>ASUS</cp:lastModifiedBy>
  <cp:revision>2</cp:revision>
  <dcterms:created xsi:type="dcterms:W3CDTF">2013-01-27T09:14:16Z</dcterms:created>
  <dcterms:modified xsi:type="dcterms:W3CDTF">2026-05-05T15:22:54Z</dcterms:modified>
  <cp:category/>
</cp:coreProperties>
</file>